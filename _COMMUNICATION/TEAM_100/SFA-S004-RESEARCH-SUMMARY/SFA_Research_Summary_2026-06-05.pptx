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$/mo (equiv.)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6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Seedtime</c:v>
                  </c:pt>
                  <c:pt idx="1">
                    <c:v>MyGardenPlanner</c:v>
                  </c:pt>
                  <c:pt idx="2">
                    <c:v>Farmbrite</c:v>
                  </c:pt>
                  <c:pt idx="3">
                    <c:v>Tend Pro</c:v>
                  </c:pt>
                  <c:pt idx="4">
                    <c:v>VeggieCropper</c:v>
                  </c:pt>
                  <c:pt idx="5">
                    <c:v>AgriWebb</c:v>
                  </c:pt>
                  <c:pt idx="6">
                    <c:v>Local Line</c:v>
                  </c:pt>
                  <c:pt idx="7">
                    <c:v>Solara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</c:v>
                </c:pt>
                <c:pt idx="1">
                  <c:v>19</c:v>
                </c:pt>
                <c:pt idx="2">
                  <c:v>29</c:v>
                </c:pt>
                <c:pt idx="3">
                  <c:v>30</c:v>
                </c:pt>
                <c:pt idx="4">
                  <c:v>37</c:v>
                </c:pt>
                <c:pt idx="5">
                  <c:v>55</c:v>
                </c:pt>
                <c:pt idx="6">
                  <c:v>99</c:v>
                </c:pt>
                <c:pt idx="7">
                  <c:v>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6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-822960"/>
            <a:ext cx="2926080" cy="2926080"/>
          </a:xfrm>
          <a:prstGeom prst="ellipse">
            <a:avLst/>
          </a:prstGeom>
          <a:solidFill>
            <a:srgbClr val="1F4D2E"/>
          </a:solidFill>
          <a:ln/>
        </p:spPr>
      </p:sp>
      <p:sp>
        <p:nvSpPr>
          <p:cNvPr id="3" name="Shape 1"/>
          <p:cNvSpPr/>
          <p:nvPr/>
        </p:nvSpPr>
        <p:spPr>
          <a:xfrm>
            <a:off x="11094415" y="1280160"/>
            <a:ext cx="1005840" cy="100584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4" name="Shape 2"/>
          <p:cNvSpPr/>
          <p:nvPr/>
        </p:nvSpPr>
        <p:spPr>
          <a:xfrm>
            <a:off x="9448495" y="2011680"/>
            <a:ext cx="502920" cy="502920"/>
          </a:xfrm>
          <a:prstGeom prst="ellipse">
            <a:avLst/>
          </a:prstGeom>
          <a:solidFill>
            <a:srgbClr val="D8A2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A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RESEARCH SUMMARY  ·  TEAM 100  ·  2026-06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Operating System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Small Farm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מערכת ההפעלה של החווה הקטנה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Re-Lock  ·  Platform Decision  ·  Competitive Intelligence  ·  Schema Reference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212080"/>
            <a:ext cx="2926080" cy="0"/>
          </a:xfrm>
          <a:prstGeom prst="line">
            <a:avLst/>
          </a:prstGeom>
          <a:noFill/>
          <a:ln w="31750">
            <a:solidFill>
              <a:srgbClr val="D8A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B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SmallFarmsAgents  ·  Hebrew-first  ·  headless over farmOS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SESSION PRODUCED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open question to a locked, evidence-backed direction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48785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2487854" cy="109728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1F4D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20306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Re-Lock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20306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star, 5 pillars, audience, Freemium model — approved in-session.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47974" y="1828800"/>
            <a:ext cx="248785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47974" y="1828800"/>
            <a:ext cx="2487854" cy="109728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2" name="Shape 10"/>
          <p:cNvSpPr/>
          <p:nvPr/>
        </p:nvSpPr>
        <p:spPr>
          <a:xfrm>
            <a:off x="3722294" y="2194560"/>
            <a:ext cx="640080" cy="640080"/>
          </a:xfrm>
          <a:prstGeom prst="ellipse">
            <a:avLst/>
          </a:prstGeom>
          <a:solidFill>
            <a:srgbClr val="1F4D2E"/>
          </a:solidFill>
          <a:ln/>
        </p:spPr>
      </p:sp>
      <p:sp>
        <p:nvSpPr>
          <p:cNvPr id="13" name="Text 11"/>
          <p:cNvSpPr/>
          <p:nvPr/>
        </p:nvSpPr>
        <p:spPr>
          <a:xfrm>
            <a:off x="3722294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76574" y="2971800"/>
            <a:ext cx="20306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Decision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76574" y="3611880"/>
            <a:ext cx="20306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farmOS chosen (vs LiteFarm), headless, 3-tier delivery.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55868" y="1828800"/>
            <a:ext cx="248785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5868" y="1828800"/>
            <a:ext cx="2487854" cy="109728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530188" y="2194560"/>
            <a:ext cx="640080" cy="640080"/>
          </a:xfrm>
          <a:prstGeom prst="ellipse">
            <a:avLst/>
          </a:prstGeom>
          <a:solidFill>
            <a:srgbClr val="1F4D2E"/>
          </a:solidFill>
          <a:ln/>
        </p:spPr>
      </p:sp>
      <p:sp>
        <p:nvSpPr>
          <p:cNvPr id="19" name="Text 17"/>
          <p:cNvSpPr/>
          <p:nvPr/>
        </p:nvSpPr>
        <p:spPr>
          <a:xfrm>
            <a:off x="6530188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84468" y="2971800"/>
            <a:ext cx="20306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Intelligence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84468" y="3611880"/>
            <a:ext cx="20306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competitors + 2 OSS, mapped across internal + 4 AI engines.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63761" y="1828800"/>
            <a:ext cx="248785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63761" y="1828800"/>
            <a:ext cx="2487854" cy="109728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4" name="Shape 22"/>
          <p:cNvSpPr/>
          <p:nvPr/>
        </p:nvSpPr>
        <p:spPr>
          <a:xfrm>
            <a:off x="9338081" y="2194560"/>
            <a:ext cx="640080" cy="640080"/>
          </a:xfrm>
          <a:prstGeom prst="ellipse">
            <a:avLst/>
          </a:prstGeom>
          <a:solidFill>
            <a:srgbClr val="1F4D2E"/>
          </a:solidFill>
          <a:ln/>
        </p:spPr>
      </p:sp>
      <p:sp>
        <p:nvSpPr>
          <p:cNvPr id="25" name="Text 23"/>
          <p:cNvSpPr/>
          <p:nvPr/>
        </p:nvSpPr>
        <p:spPr>
          <a:xfrm>
            <a:off x="9338081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292361" y="2971800"/>
            <a:ext cx="20306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Tend Reference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92361" y="3611880"/>
            <a:ext cx="20306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Field-exact schema from real farm exports → build-ready blueprint.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937760"/>
            <a:ext cx="24878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8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12+2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640080" y="5577840"/>
            <a:ext cx="2487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+ OSS benchmarks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47974" y="4937760"/>
            <a:ext cx="24878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8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3447974" y="5577840"/>
            <a:ext cx="2487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AI research engines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55868" y="4937760"/>
            <a:ext cx="24878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8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16+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6255868" y="5577840"/>
            <a:ext cx="2487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sub-agents run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063761" y="4937760"/>
            <a:ext cx="24878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8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9063761" y="5577840"/>
            <a:ext cx="2487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converge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SFA · S004 — Strategic Research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page every grower opens in the morning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מערכת ההפעלה של החווה הקטנה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across five pillars — unified in one role-aware daily cockpit (Manager + Worker).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962851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743200"/>
            <a:ext cx="1962851" cy="914400"/>
          </a:xfrm>
          <a:prstGeom prst="rect">
            <a:avLst/>
          </a:prstGeom>
          <a:solidFill>
            <a:srgbClr val="D8A2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07792"/>
            <a:ext cx="19628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3886200"/>
            <a:ext cx="17433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&amp; when to grow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877251" y="2743200"/>
            <a:ext cx="1962851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77251" y="2743200"/>
            <a:ext cx="1962851" cy="91440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2" name="Text 10"/>
          <p:cNvSpPr/>
          <p:nvPr/>
        </p:nvSpPr>
        <p:spPr>
          <a:xfrm>
            <a:off x="2877251" y="2907792"/>
            <a:ext cx="19628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86979" y="3886200"/>
            <a:ext cx="17433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field tasks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114422" y="2743200"/>
            <a:ext cx="1962851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14422" y="2743200"/>
            <a:ext cx="1962851" cy="91440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6" name="Text 14"/>
          <p:cNvSpPr/>
          <p:nvPr/>
        </p:nvSpPr>
        <p:spPr>
          <a:xfrm>
            <a:off x="5114422" y="2907792"/>
            <a:ext cx="19628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24150" y="3886200"/>
            <a:ext cx="17433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market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51593" y="2743200"/>
            <a:ext cx="1962851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51593" y="2743200"/>
            <a:ext cx="1962851" cy="91440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0" name="Text 18"/>
          <p:cNvSpPr/>
          <p:nvPr/>
        </p:nvSpPr>
        <p:spPr>
          <a:xfrm>
            <a:off x="7351593" y="2907792"/>
            <a:ext cx="19628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61321" y="3886200"/>
            <a:ext cx="17433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/ CSA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588764" y="2743200"/>
            <a:ext cx="1962851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588764" y="2743200"/>
            <a:ext cx="1962851" cy="914400"/>
          </a:xfrm>
          <a:prstGeom prst="rect">
            <a:avLst/>
          </a:prstGeom>
          <a:solidFill>
            <a:srgbClr val="D8A24A"/>
          </a:solidFill>
          <a:ln/>
        </p:spPr>
      </p:sp>
      <p:sp>
        <p:nvSpPr>
          <p:cNvPr id="24" name="Text 22"/>
          <p:cNvSpPr/>
          <p:nvPr/>
        </p:nvSpPr>
        <p:spPr>
          <a:xfrm>
            <a:off x="9588764" y="2907792"/>
            <a:ext cx="19628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98492" y="3886200"/>
            <a:ext cx="17433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better next year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4406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(Plan / Improve) = our agronomic-economic engine  ·  Operations (Execute / Sell / Relate) = farmOS + integrations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SFA · S004 — Strategic Research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&amp; 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audiences, one funnel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7288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128016" cy="2743200"/>
          </a:xfrm>
          <a:prstGeom prst="rect">
            <a:avLst/>
          </a:prstGeom>
          <a:solidFill>
            <a:srgbClr val="D8A24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2024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market gardener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468880"/>
            <a:ext cx="4724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core (JM Fortier / bio-intensive style)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business → real willingness to pay for tools that make/save money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notebookLM spec &amp; the data engine target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8728" y="1737360"/>
            <a:ext cx="527288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78728" y="1737360"/>
            <a:ext cx="128016" cy="274320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0" name="Text 8"/>
          <p:cNvSpPr/>
          <p:nvPr/>
        </p:nvSpPr>
        <p:spPr>
          <a:xfrm>
            <a:off x="6598768" y="192024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/ private grower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98768" y="2468880"/>
            <a:ext cx="4724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engine, not just free users — Nimrod's course customers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community → trust → courses, consulting, custom dev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the brand for SFA and for Nimrod as consultant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10911535" cy="1143000"/>
          </a:xfrm>
          <a:prstGeom prst="rect">
            <a:avLst/>
          </a:prstGeom>
          <a:solidFill>
            <a:srgbClr val="1F4D2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93776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Monetization: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+ strong indirect.  </a:t>
            </a:r>
            <a:pPr indent="0" marL="0">
              <a:buNone/>
            </a:pPr>
            <a:r>
              <a:rPr lang="en-US" sz="1350" dirty="0">
                <a:solidFill>
                  <a:srgbClr val="D7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Hebrew Crop-Book + calculators = the brand front (build first, build excellently). Paid = durable farm management + economics. Indirect revenue (brand → courses → consulting) may exceed direct.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SFA · S004 — Strategic Research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farmOS — adopted headless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built for integration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2402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JSON:API + OAuth2 + official Python client. (LiteFarm's API is internal-only → brittle.)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834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Flexible data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/ Log / Quantity / Term + custom fields hold our 13-topic taxonomy &amp; provenance. (LiteFarm schema rigid.)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886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Blessed, documented self-host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3434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— fits our stack. (LiteFarm self-host unsupported.)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0" y="1783080"/>
            <a:ext cx="3962095" cy="3291840"/>
          </a:xfrm>
          <a:prstGeom prst="rect">
            <a:avLst/>
          </a:prstGeom>
          <a:solidFill>
            <a:srgbClr val="F2F6F1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6384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headless?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863840" y="2514600"/>
            <a:ext cx="34134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our own Hebrew/RTL UI — solves UX + Hebrew + GPL boundary at once.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GPL-2.0 (not AGPL): SaaS + headless → our engine stays proprietary.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Bus-factor managed: we hold the code, data &amp; frontend; Farmier = commercial backstop.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6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LiteFarm's deciding negatives: zero RTL/Hebrew + internal-only API → headless neutralizes its UI advantage.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SFA · S004 — Strategic Research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tiers — cost scales with commitment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9333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3393338" cy="914400"/>
          </a:xfrm>
          <a:prstGeom prst="rect">
            <a:avLst/>
          </a:prstGeom>
          <a:solidFill>
            <a:srgbClr val="8AAE9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56816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account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359152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Book + 14 calculators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+ export, anonymous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concurrency · ~0 cost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AE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99178" y="1828800"/>
            <a:ext cx="339333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99178" y="1828800"/>
            <a:ext cx="3393338" cy="91440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2" name="Text 10"/>
          <p:cNvSpPr/>
          <p:nvPr/>
        </p:nvSpPr>
        <p:spPr>
          <a:xfrm>
            <a:off x="4582058" y="1956816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Rented sandbox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82058" y="2359152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instance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27778" y="292608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farmOS, spun up on demand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loaded → saved → reset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farming's seasonality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82058" y="461772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PAY-PER-USE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58277" y="1828800"/>
            <a:ext cx="339333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58277" y="1828800"/>
            <a:ext cx="3393338" cy="914400"/>
          </a:xfrm>
          <a:prstGeom prst="rect">
            <a:avLst/>
          </a:prstGeom>
          <a:solidFill>
            <a:srgbClr val="1F4D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41157" y="1956816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Permanent instance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41157" y="2359152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86877" y="292608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serious operators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volume, always mounted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operational record-keeping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41157" y="461772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54864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by the "bundle" = a DB/volume snapshot. Promotion ladder: draft → save bundle → keep always-on. Ephemerality kills the upgrade-debt of always-on instances.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SFA · S004 — Strategic Research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MAPPED THE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Quadruple-source competitive intelligence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cross-checked across internal research agents and four independent AI engines.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962851" cy="640080"/>
          </a:xfrm>
          <a:prstGeom prst="roundRect">
            <a:avLst>
              <a:gd name="adj" fmla="val 11429"/>
            </a:avLst>
          </a:prstGeom>
          <a:solidFill>
            <a:srgbClr val="1F4D2E"/>
          </a:solidFill>
          <a:ln w="12700">
            <a:solidFill>
              <a:srgbClr val="D9E2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57400"/>
            <a:ext cx="19628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agents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77251" y="2057400"/>
            <a:ext cx="1962851" cy="640080"/>
          </a:xfrm>
          <a:prstGeom prst="roundRect">
            <a:avLst>
              <a:gd name="adj" fmla="val 11429"/>
            </a:avLst>
          </a:prstGeom>
          <a:solidFill>
            <a:srgbClr val="F2F6F1"/>
          </a:solidFill>
          <a:ln w="12700">
            <a:solidFill>
              <a:srgbClr val="D9E2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77251" y="2057400"/>
            <a:ext cx="19628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14422" y="2057400"/>
            <a:ext cx="1962851" cy="640080"/>
          </a:xfrm>
          <a:prstGeom prst="roundRect">
            <a:avLst>
              <a:gd name="adj" fmla="val 11429"/>
            </a:avLst>
          </a:prstGeom>
          <a:solidFill>
            <a:srgbClr val="F2F6F1"/>
          </a:solidFill>
          <a:ln w="12700">
            <a:solidFill>
              <a:srgbClr val="D9E2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14422" y="2057400"/>
            <a:ext cx="19628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(web)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51593" y="2057400"/>
            <a:ext cx="1962851" cy="640080"/>
          </a:xfrm>
          <a:prstGeom prst="roundRect">
            <a:avLst>
              <a:gd name="adj" fmla="val 11429"/>
            </a:avLst>
          </a:prstGeom>
          <a:solidFill>
            <a:srgbClr val="F2F6F1"/>
          </a:solidFill>
          <a:ln w="12700">
            <a:solidFill>
              <a:srgbClr val="D9E2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51593" y="2057400"/>
            <a:ext cx="19628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588764" y="2057400"/>
            <a:ext cx="1962851" cy="640080"/>
          </a:xfrm>
          <a:prstGeom prst="roundRect">
            <a:avLst>
              <a:gd name="adj" fmla="val 11429"/>
            </a:avLst>
          </a:prstGeom>
          <a:solidFill>
            <a:srgbClr val="F2F6F1"/>
          </a:solidFill>
          <a:ln w="12700">
            <a:solidFill>
              <a:srgbClr val="D9E2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88764" y="2057400"/>
            <a:ext cx="19628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splits into four shallow, un-moated clusters — none spans the whole farm: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27288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63016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Crop / production planners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99592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 · Heirloom · Seedtime · MarketGardenPlanner · VeggieCropper · GrowVeg · Planter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8728" y="3520440"/>
            <a:ext cx="527288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07328" y="363016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Farm records &amp; compliance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07328" y="399592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Farmbrite · Croptracker · AgriWebb (livestock)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663440"/>
            <a:ext cx="527288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477316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/ CSA commerce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513892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Line · Barn2Door · Harvie (defunct)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78728" y="4663440"/>
            <a:ext cx="527288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07328" y="477316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Open-source benchmarks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07328" y="513892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farmOS (our backend) · LiteFarm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SFA · S004 — Strategic Research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— UNANIMOUS ACROSS ALL 12 COMPETITORS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open lanes nobody serves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868680" cy="868680"/>
          </a:xfrm>
          <a:prstGeom prst="ellipse">
            <a:avLst/>
          </a:prstGeom>
          <a:solidFill>
            <a:srgbClr val="D8A2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783080" y="2057400"/>
            <a:ext cx="9768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one closes the market-price → plan → profit loop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83080" y="2606040"/>
            <a:ext cx="9768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economics is retrospective or self-entered. Heirloom lists it on its public roadmap — unshipped. → Our #1 wedge.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868680" cy="86868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74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783080" y="3429000"/>
            <a:ext cx="9768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Hebrew / zero RTL — anywhere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83080" y="3977640"/>
            <a:ext cx="9768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$64M AgriWebb &amp; JM Fortier's Heirloom built no RTL. The only Israeli product is a printed paper calendar. → Our moat.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868680" cy="868680"/>
          </a:xfrm>
          <a:prstGeom prst="ellipse">
            <a:avLst/>
          </a:prstGeom>
          <a:solidFill>
            <a:srgbClr val="D8A2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463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783080" y="4800600"/>
            <a:ext cx="9768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production ↔ sales loop is industry-wide open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83080" y="5349240"/>
            <a:ext cx="9768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tools never feed planning; planners never pull demand. → Our unified 5-pillar OS is unbuilt anywhere.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SFA · S004 — Strategic Research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is most profitable to grow — right now?"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291840" cy="1371600"/>
          </a:xfrm>
          <a:prstGeom prst="rect">
            <a:avLst/>
          </a:prstGeom>
          <a:solidFill>
            <a:srgbClr val="F2F6F1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Israeli market-price index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Agriculture wholesale feed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041648" y="2834640"/>
            <a:ext cx="298552" cy="457200"/>
          </a:xfrm>
          <a:prstGeom prst="chevron">
            <a:avLst/>
          </a:prstGeom>
          <a:solidFill>
            <a:srgbClr val="8AAE91"/>
          </a:solidFill>
          <a:ln/>
        </p:spPr>
      </p:sp>
      <p:sp>
        <p:nvSpPr>
          <p:cNvPr id="8" name="Shape 6"/>
          <p:cNvSpPr/>
          <p:nvPr/>
        </p:nvSpPr>
        <p:spPr>
          <a:xfrm>
            <a:off x="4449928" y="2377440"/>
            <a:ext cx="3291840" cy="1371600"/>
          </a:xfrm>
          <a:prstGeom prst="rect">
            <a:avLst/>
          </a:prstGeom>
          <a:solidFill>
            <a:srgbClr val="F2F6F1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32808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planning calculators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32808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× price × cost, per bed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51496" y="2834640"/>
            <a:ext cx="298552" cy="457200"/>
          </a:xfrm>
          <a:prstGeom prst="chevron">
            <a:avLst/>
          </a:prstGeom>
          <a:solidFill>
            <a:srgbClr val="8AAE91"/>
          </a:solidFill>
          <a:ln/>
        </p:spPr>
      </p:sp>
      <p:sp>
        <p:nvSpPr>
          <p:cNvPr id="12" name="Shape 10"/>
          <p:cNvSpPr/>
          <p:nvPr/>
        </p:nvSpPr>
        <p:spPr>
          <a:xfrm>
            <a:off x="8259775" y="2377440"/>
            <a:ext cx="3291840" cy="1371600"/>
          </a:xfrm>
          <a:prstGeom prst="rect">
            <a:avLst/>
          </a:prstGeom>
          <a:solidFill>
            <a:srgbClr val="D8A24A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42655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Ranked: most profitable to grow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42655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forward, before you plant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10911535" cy="1554480"/>
          </a:xfrm>
          <a:prstGeom prst="rect">
            <a:avLst/>
          </a:prstGeom>
          <a:solidFill>
            <a:srgbClr val="1F4D2E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43484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else does this.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competitor that touches money tracks it </a:t>
            </a:r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(your own books) or uses self-entered prices. SFA turns the record-book into a </a:t>
            </a:r>
            <a:pPr indent="0" marL="0">
              <a:buNone/>
            </a:pPr>
            <a:r>
              <a:rPr lang="en-US" sz="150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economic engine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agronomy × live Israeli market prices.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SFA · S004 — Strategic Research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Hebrew-first, RTL-native, Israeli climate &amp; market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Structural, not cosmetic.  </a:t>
            </a:r>
            <a:pPr indent="0" marL="0">
              <a:buNone/>
            </a:pPr>
            <a:r>
              <a:rPr lang="en-US" sz="15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must be built in from day one — every field, calendar, bed-map and notification.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D8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834640" y="2514600"/>
            <a:ext cx="8716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with any Hebrew or RTL — out of 12 + 2 OSS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10911535" cy="0"/>
          </a:xfrm>
          <a:prstGeom prst="line">
            <a:avLst/>
          </a:prstGeom>
          <a:noFill/>
          <a:ln w="12700">
            <a:solidFill>
              <a:srgbClr val="D9E2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20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D8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834640" y="3566160"/>
            <a:ext cx="8716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Israeli home-garden product exists — a printed paper calendar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10911535" cy="0"/>
          </a:xfrm>
          <a:prstGeom prst="line">
            <a:avLst/>
          </a:prstGeom>
          <a:noFill/>
          <a:ln w="12700">
            <a:solidFill>
              <a:srgbClr val="D9E2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572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D8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$64M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834640" y="4617720"/>
            <a:ext cx="8716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AgriWebb funding — still built no RTL (nor full Spanish)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Israeli specifics no global tool will build: Negev vs Galilee seasonality, local pests, holidays, Shabbat-friendly views, water-salinity.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SFA · S004 — Strategic Research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WHITE-SPACE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(almost) nobody plays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7288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128016" cy="1554480"/>
          </a:xfrm>
          <a:prstGeom prst="rect">
            <a:avLst/>
          </a:prstGeom>
          <a:solidFill>
            <a:srgbClr val="D8A24A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148840"/>
            <a:ext cx="502920" cy="502920"/>
          </a:xfrm>
          <a:prstGeom prst="ellipse">
            <a:avLst/>
          </a:prstGeom>
          <a:solidFill>
            <a:srgbClr val="1F4D2E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10312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Market-price → profit planning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645920" y="2651760"/>
            <a:ext cx="408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forward economic engine. Universal gap.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8728" y="1828800"/>
            <a:ext cx="527288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78728" y="1828800"/>
            <a:ext cx="128016" cy="1554480"/>
          </a:xfrm>
          <a:prstGeom prst="rect">
            <a:avLst/>
          </a:prstGeom>
          <a:solidFill>
            <a:srgbClr val="D8A24A"/>
          </a:solidFill>
          <a:ln/>
        </p:spPr>
      </p:sp>
      <p:sp>
        <p:nvSpPr>
          <p:cNvPr id="12" name="Shape 10"/>
          <p:cNvSpPr/>
          <p:nvPr/>
        </p:nvSpPr>
        <p:spPr>
          <a:xfrm>
            <a:off x="6598768" y="2148840"/>
            <a:ext cx="502920" cy="502920"/>
          </a:xfrm>
          <a:prstGeom prst="ellipse">
            <a:avLst/>
          </a:prstGeom>
          <a:solidFill>
            <a:srgbClr val="1F4D2E"/>
          </a:solidFill>
          <a:ln/>
        </p:spPr>
      </p:sp>
      <p:sp>
        <p:nvSpPr>
          <p:cNvPr id="13" name="Text 11"/>
          <p:cNvSpPr/>
          <p:nvPr/>
        </p:nvSpPr>
        <p:spPr>
          <a:xfrm>
            <a:off x="6598768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84568" y="210312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Hebrew / RTL / Israel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284568" y="2651760"/>
            <a:ext cx="408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Uncontested. A defensible moat, not a feature.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527288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703320"/>
            <a:ext cx="128016" cy="1554480"/>
          </a:xfrm>
          <a:prstGeom prst="rect">
            <a:avLst/>
          </a:prstGeom>
          <a:solidFill>
            <a:srgbClr val="D8A24A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" y="4023360"/>
            <a:ext cx="502920" cy="502920"/>
          </a:xfrm>
          <a:prstGeom prst="ellipse">
            <a:avLst/>
          </a:prstGeom>
          <a:solidFill>
            <a:srgbClr val="1F4D2E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397764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unified morning cockpit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645920" y="4526280"/>
            <a:ext cx="408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Plan+Execute+Sell+Relate in one role-aware screen.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78728" y="3703320"/>
            <a:ext cx="527288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78728" y="3703320"/>
            <a:ext cx="128016" cy="1554480"/>
          </a:xfrm>
          <a:prstGeom prst="rect">
            <a:avLst/>
          </a:prstGeom>
          <a:solidFill>
            <a:srgbClr val="D8A24A"/>
          </a:solidFill>
          <a:ln/>
        </p:spPr>
      </p:sp>
      <p:sp>
        <p:nvSpPr>
          <p:cNvPr id="24" name="Shape 22"/>
          <p:cNvSpPr/>
          <p:nvPr/>
        </p:nvSpPr>
        <p:spPr>
          <a:xfrm>
            <a:off x="6598768" y="4023360"/>
            <a:ext cx="502920" cy="502920"/>
          </a:xfrm>
          <a:prstGeom prst="ellipse">
            <a:avLst/>
          </a:prstGeom>
          <a:solidFill>
            <a:srgbClr val="1F4D2E"/>
          </a:solidFill>
          <a:ln/>
        </p:spPr>
      </p:sp>
      <p:sp>
        <p:nvSpPr>
          <p:cNvPr id="25" name="Text 23"/>
          <p:cNvSpPr/>
          <p:nvPr/>
        </p:nvSpPr>
        <p:spPr>
          <a:xfrm>
            <a:off x="6598768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84568" y="397764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Beautiful mobile canvas + cockpit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284568" y="4526280"/>
            <a:ext cx="408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Planter owns mobile; Seedtime owns the cockpit; nobody owns both.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SFA · S004 — Strategic Research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adopt — three layers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1153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146304" cy="1005840"/>
          </a:xfrm>
          <a:prstGeom prst="rect">
            <a:avLst/>
          </a:prstGeom>
          <a:solidFill>
            <a:srgbClr val="D8A24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476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Tend — the spine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023360" y="1938528"/>
            <a:ext cx="7345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→ Growing-Template → Planting → Task → Harvest → Lot → Inventory. Multiple templates per crop, cascade/clone. Maps 1:1 to farmOS Asset/Log/Quantity/Term.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1091153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971800"/>
            <a:ext cx="146304" cy="100584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906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LiteFarm — crop depth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023360" y="3081528"/>
            <a:ext cx="7345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OSS crop schema (crop type → varietal → management plan, estimated yield + value/yield). Second reference.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1091153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114800"/>
            <a:ext cx="146304" cy="1005840"/>
          </a:xfrm>
          <a:prstGeom prst="rect">
            <a:avLst/>
          </a:prstGeom>
          <a:solidFill>
            <a:srgbClr val="1F4D2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2336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farmOS — the substrate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023360" y="4224528"/>
            <a:ext cx="7345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Asset/Log/Quantity/Term + custom fields. The operational ledger; we own the opinionated UI on top.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440680"/>
            <a:ext cx="10911535" cy="640080"/>
          </a:xfrm>
          <a:prstGeom prst="rect">
            <a:avLst/>
          </a:prstGeom>
          <a:solidFill>
            <a:srgbClr val="F2F6F1"/>
          </a:solidFill>
          <a:ln w="12700">
            <a:solidFill>
              <a:srgbClr val="D9E2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440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Field-exact, validated:  </a:t>
            </a:r>
            <a:pPr indent="0" marL="0">
              <a:buNone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years of real Tend exports from Nimrod's own farm are already in-repo (64-column CROP_PLAN, metric, ₪) + an existing importer. Inference → fact.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SFA · S004 — Strategic Research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the table stakes — beat on what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2888" cy="548640"/>
          </a:xfrm>
          <a:prstGeom prst="rect">
            <a:avLst/>
          </a:prstGeom>
          <a:solidFill>
            <a:srgbClr val="8AAE9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27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 (table stakes)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27288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560320"/>
            <a:ext cx="463280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Backward-from-harvest scheduling + bed-turnover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loop + public order forms + availability sheets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/ manager accounts with task autonomy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+ rotation as the planning hook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box-first backward planning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14 calculators (seed/yield/spacing/succession)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272888" cy="548640"/>
          </a:xfrm>
          <a:prstGeom prst="rect">
            <a:avLst/>
          </a:prstGeom>
          <a:solidFill>
            <a:srgbClr val="D8A24A"/>
          </a:solidFill>
          <a:ln/>
        </p:spPr>
      </p:sp>
      <p:sp>
        <p:nvSpPr>
          <p:cNvPr id="9" name="Text 7"/>
          <p:cNvSpPr/>
          <p:nvPr/>
        </p:nvSpPr>
        <p:spPr>
          <a:xfrm>
            <a:off x="6278728" y="1783080"/>
            <a:ext cx="527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BEAT  (where we win)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78728" y="2331720"/>
            <a:ext cx="527288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98768" y="2560320"/>
            <a:ext cx="463280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Market-price → forward profit loop (the hero)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Hebrew-first / RTL + Israeli climate &amp; market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agronomic KB + 14 calculators (rivals: free fields, no science)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Openness &amp; durability (farmOS + export) vs closed, bus-factor-1 rivals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tier = capability (Sell+Relate+finance), not "more beds"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SFA · S004 — Strategic Research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BENCHMARK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 serious tool sits — and our target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7040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2011680"/>
            <a:ext cx="3413455" cy="1828800"/>
          </a:xfrm>
          <a:prstGeom prst="rect">
            <a:avLst/>
          </a:prstGeom>
          <a:solidFill>
            <a:srgbClr val="1F4D2E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36676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SFA target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366760" y="2514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~$25–40 / mo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366760" y="3154680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equiv. ₪ — below Tend Pro, justified by the economics engine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38160" y="4069080"/>
            <a:ext cx="34134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= table stakes (rare → our advantage).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Croptracker ~$275/mo (enterprise, off-scale).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transparent, no setup fees, no % of sales.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SFA · S004 — Strategic Research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Nimrod's years inside Tend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931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8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 The harvest loop is priority #1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54880" y="1783080"/>
            <a:ext cx="679673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Harvest-list → field-report → accumulated learning is the most valuable AND the most painful loop. The crew never understood what to update. Make it fast, structured, worker-obvious — the gold lives here.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862072"/>
            <a:ext cx="10911535" cy="0"/>
          </a:xfrm>
          <a:prstGeom prst="line">
            <a:avLst/>
          </a:prstGeom>
          <a:noFill/>
          <a:ln w="12700">
            <a:solidFill>
              <a:srgbClr val="D9E2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07792"/>
            <a:ext cx="3931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8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 Speed is a hard requirement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2907792"/>
            <a:ext cx="679673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Tend operations were simply slow. Slowness kills field adoption. Treat responsiveness as a non-negotiable NFR.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986784"/>
            <a:ext cx="10911535" cy="0"/>
          </a:xfrm>
          <a:prstGeom prst="line">
            <a:avLst/>
          </a:prstGeom>
          <a:noFill/>
          <a:ln w="12700">
            <a:solidFill>
              <a:srgbClr val="D9E2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032504"/>
            <a:ext cx="3931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 Keep what worked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4032504"/>
            <a:ext cx="679673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Time+space colour bed-map, auto-generated tasks, auto harvest-lists, clone-crop-shows-on-map.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5111496"/>
            <a:ext cx="10911535" cy="0"/>
          </a:xfrm>
          <a:prstGeom prst="line">
            <a:avLst/>
          </a:prstGeom>
          <a:noFill/>
          <a:ln w="12700">
            <a:solidFill>
              <a:srgbClr val="D9E2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157216"/>
            <a:ext cx="3931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  Redo what didn't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5157216"/>
            <a:ext cx="679673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must run much faster; all field reporting must be far simpler &amp; more structured for the worker.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SFA · S004 — Strategic Research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is complete → proceed to Phase 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competitors + 2 OSS · 4 AI engines · internal agents — all converge. No further CI rounds needed.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7288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68880"/>
            <a:ext cx="548640" cy="548640"/>
          </a:xfrm>
          <a:prstGeom prst="ellipse">
            <a:avLst/>
          </a:prstGeom>
          <a:solidFill>
            <a:srgbClr val="1F4D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model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715768"/>
            <a:ext cx="412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farmOS Asset/Log/Quantity/Term × Tend spine × 13-topic taxonomy × 14 calculators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8728" y="2148840"/>
            <a:ext cx="527288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3048" y="2468880"/>
            <a:ext cx="548640" cy="548640"/>
          </a:xfrm>
          <a:prstGeom prst="ellipse">
            <a:avLst/>
          </a:prstGeom>
          <a:solidFill>
            <a:srgbClr val="1F4D2E"/>
          </a:solidFill>
          <a:ln/>
        </p:spPr>
      </p:sp>
      <p:sp>
        <p:nvSpPr>
          <p:cNvPr id="12" name="Text 10"/>
          <p:cNvSpPr/>
          <p:nvPr/>
        </p:nvSpPr>
        <p:spPr>
          <a:xfrm>
            <a:off x="6553048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38848" y="2313432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3-tier delivery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38848" y="2715768"/>
            <a:ext cx="412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No-account · rented sandbox · permanent — the bundle lifecycle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527288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3886200"/>
            <a:ext cx="548640" cy="548640"/>
          </a:xfrm>
          <a:prstGeom prst="ellipse">
            <a:avLst/>
          </a:prstGeom>
          <a:solidFill>
            <a:srgbClr val="1F4D2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3730752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morning cockpit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4133088"/>
            <a:ext cx="412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(Manager/Worker), RTL-native, harvest-loop-first, fast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78728" y="3566160"/>
            <a:ext cx="527288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53048" y="3886200"/>
            <a:ext cx="548640" cy="548640"/>
          </a:xfrm>
          <a:prstGeom prst="ellipse">
            <a:avLst/>
          </a:prstGeom>
          <a:solidFill>
            <a:srgbClr val="1F4D2E"/>
          </a:solidFill>
          <a:ln/>
        </p:spPr>
      </p:sp>
      <p:sp>
        <p:nvSpPr>
          <p:cNvPr id="22" name="Text 20"/>
          <p:cNvSpPr/>
          <p:nvPr/>
        </p:nvSpPr>
        <p:spPr>
          <a:xfrm>
            <a:off x="6553048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38848" y="3730752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wedge, wired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38848" y="4133088"/>
            <a:ext cx="412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Ministry-of-Ag price index → calculators → 'most profitable to grow'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54406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decisions carried forward: D1 pricing specifics · D2 multi-tenancy at scale · D3 Sell/Relate = build (no clean integration target).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SFA · S004 — Strategic Research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2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480560"/>
            <a:ext cx="3108960" cy="3108960"/>
          </a:xfrm>
          <a:prstGeom prst="ellipse">
            <a:avLst/>
          </a:prstGeom>
          <a:solidFill>
            <a:srgbClr val="1F4D2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760720"/>
            <a:ext cx="914400" cy="914400"/>
          </a:xfrm>
          <a:prstGeom prst="ellipse">
            <a:avLst/>
          </a:prstGeom>
          <a:solidFill>
            <a:srgbClr val="D8A2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מערכת ההפעלה של החווה הקטנה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operating system for the small farm.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A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 + moat confirmed against 12 competitors + 2 open-source benchmarks.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32808" y="4297680"/>
            <a:ext cx="2926080" cy="0"/>
          </a:xfrm>
          <a:prstGeom prst="line">
            <a:avLst/>
          </a:prstGeom>
          <a:noFill/>
          <a:ln w="31750">
            <a:solidFill>
              <a:srgbClr val="D8A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4805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DB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Phase 0 — technical design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SFA Research Summary</dc:title>
  <dc:subject>PptxGenJS Presentation</dc:subject>
  <dc:creator>Team 100</dc:creator>
  <cp:lastModifiedBy>Team 100</cp:lastModifiedBy>
  <cp:revision>1</cp:revision>
  <dcterms:created xsi:type="dcterms:W3CDTF">2026-06-04T21:37:05Z</dcterms:created>
  <dcterms:modified xsi:type="dcterms:W3CDTF">2026-06-04T21:37:05Z</dcterms:modified>
</cp:coreProperties>
</file>